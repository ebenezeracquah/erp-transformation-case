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20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2106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E6338-7BF7-8B71-785A-2EAFD4106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D1E234-DE9D-EE1B-1C92-AF82E08229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43B692-D789-F39C-B90D-16A6714FA0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C81E4-45C3-32D5-8F7C-8340B3C458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6493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0D841-DB82-6828-A01F-0881231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E18428-DCBD-8C30-8946-454A743179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EFC165-14CF-0742-5506-7F4EA914A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D09D8-2C9A-FF8C-219F-94A03AD55F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48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57250"/>
            <a:ext cx="9144000" cy="1428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7619981" cy="966192"/>
          </a:xfrm>
          <a:prstGeom prst="rect">
            <a:avLst/>
          </a:prstGeom>
          <a:noFill/>
          <a:ln/>
        </p:spPr>
        <p:txBody>
          <a:bodyPr wrap="square" lIns="340233" tIns="340233" rIns="340233" bIns="340233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AMG ERP TRANSFORMATION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7619981" y="0"/>
            <a:ext cx="1523991" cy="966192"/>
          </a:xfrm>
          <a:prstGeom prst="rect">
            <a:avLst/>
          </a:prstGeom>
          <a:solidFill>
            <a:srgbClr val="F26522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088" y="340221"/>
            <a:ext cx="285750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85750" y="1285875"/>
            <a:ext cx="5510203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1C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Modernising ERP while protecting operations, margins, and business continuity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78631" y="2225948"/>
            <a:ext cx="2572532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Prepared for: AMG Executive Team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78631" y="2459906"/>
            <a:ext cx="416751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Focus: ERP replacement, scope control, and risk reduction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095991" y="857250"/>
            <a:ext cx="3047981" cy="3914775"/>
          </a:xfrm>
          <a:prstGeom prst="rect">
            <a:avLst/>
          </a:prstGeom>
          <a:solidFill>
            <a:srgbClr val="0A2240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5669" y="2227064"/>
            <a:ext cx="428625" cy="5715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82265" y="2941439"/>
            <a:ext cx="1818038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STRATEGY SLIDE DECK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0" y="4772025"/>
            <a:ext cx="9144000" cy="3714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0" y="4772025"/>
            <a:ext cx="9144000" cy="1428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17" name="Text 12"/>
          <p:cNvSpPr/>
          <p:nvPr/>
        </p:nvSpPr>
        <p:spPr>
          <a:xfrm>
            <a:off x="0" y="4772025"/>
            <a:ext cx="9144000" cy="371475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C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 | ERP Transformation Strategy |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286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14375"/>
            <a:ext cx="9144000" cy="1428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7619981" cy="767953"/>
          </a:xfrm>
          <a:prstGeom prst="rect">
            <a:avLst/>
          </a:prstGeom>
          <a:noFill/>
          <a:ln/>
        </p:spPr>
        <p:txBody>
          <a:bodyPr wrap="square" lIns="340233" tIns="21259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EXECUTIVE SUMMARY: BUSINESS-LED TRANSFORMATION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619981" y="0"/>
            <a:ext cx="1523991" cy="714375"/>
          </a:xfrm>
          <a:prstGeom prst="rect">
            <a:avLst/>
          </a:prstGeom>
          <a:solidFill>
            <a:srgbClr val="F26522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4807" y="276820"/>
            <a:ext cx="214313" cy="21431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85750" y="1000125"/>
            <a:ext cx="3986213" cy="1457325"/>
          </a:xfrm>
          <a:prstGeom prst="rect">
            <a:avLst/>
          </a:prstGeom>
          <a:solidFill>
            <a:srgbClr val="F8F9FA"/>
          </a:solidFill>
          <a:ln w="18288">
            <a:solidFill>
              <a:srgbClr val="0A224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28625" y="1143000"/>
            <a:ext cx="3700463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Vision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28625" y="1448395"/>
            <a:ext cx="3700463" cy="87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AMG should approach the ERP replacement as a </a:t>
            </a:r>
            <a:r>
              <a:rPr lang="en-US" sz="1200" b="1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comprehensive business transformation</a:t>
            </a: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not just a technology upgrade. The goal is to align systems with operational excellence.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35806" y="2643188"/>
            <a:ext cx="35361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Controlled 12-month phased implementation focused on core stability.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35806" y="3150394"/>
            <a:ext cx="35361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Prioritize Day-1 processes: Finance, Procurement, Inventory, and Manufacturing.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57750" y="1000125"/>
            <a:ext cx="4000500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Implementation Pillars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307806" y="1376958"/>
            <a:ext cx="35504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BOM/MRP Reliability:</a:t>
            </a: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Ensuring data integrity from engineering to the shop floor.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307806" y="1884164"/>
            <a:ext cx="35504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 Visibility:</a:t>
            </a: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Real-time margin tracking and cost control across all projects.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307806" y="2391370"/>
            <a:ext cx="35504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Operational Continuity:</a:t>
            </a: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Minimizing disruption during cutover with rigorous testing.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307806" y="2898577"/>
            <a:ext cx="35504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Scope Discipline:</a:t>
            </a: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Deferring non-critical automation and CRM/HRIS integration to Phase 2.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0" y="4843463"/>
            <a:ext cx="9144000" cy="3000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0" y="4843463"/>
            <a:ext cx="9144000" cy="1428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20" name="Text 16"/>
          <p:cNvSpPr/>
          <p:nvPr/>
        </p:nvSpPr>
        <p:spPr>
          <a:xfrm>
            <a:off x="0" y="4843463"/>
            <a:ext cx="9144000" cy="30003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C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AMG ERP Transformation Strategy | Executive Summary</a:t>
            </a:r>
            <a:endParaRPr lang="en-US" sz="75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FE0ECB19-EF0A-5C2D-EE31-1B8E62AE96A4}"/>
              </a:ext>
            </a:extLst>
          </p:cNvPr>
          <p:cNvSpPr/>
          <p:nvPr/>
        </p:nvSpPr>
        <p:spPr>
          <a:xfrm>
            <a:off x="8597829" y="4873912"/>
            <a:ext cx="36751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6522"/>
                </a:solidFill>
                <a:latin typeface="Times New Roman" pitchFamily="34" charset="0"/>
                <a:cs typeface="Times New Roman" pitchFamily="34" charset="-120"/>
              </a:rPr>
              <a:t>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286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14375"/>
            <a:ext cx="9144000" cy="1428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7619981" cy="714375"/>
          </a:xfrm>
          <a:prstGeom prst="rect">
            <a:avLst/>
          </a:prstGeom>
          <a:noFill/>
          <a:ln/>
        </p:spPr>
        <p:txBody>
          <a:bodyPr wrap="square" lIns="340233" tIns="21259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CURRENT-STATE ANALYSIS: RISKS OF LEGACY SYSTEMS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619981" y="0"/>
            <a:ext cx="1523991" cy="714375"/>
          </a:xfrm>
          <a:prstGeom prst="rect">
            <a:avLst/>
          </a:prstGeom>
          <a:solidFill>
            <a:srgbClr val="F26522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4807" y="250031"/>
            <a:ext cx="214313" cy="2143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4313" y="1000125"/>
            <a:ext cx="260506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OPERATIONAL FRAGILITY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2938" y="1341239"/>
            <a:ext cx="2176444" cy="375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Legacy ERP &gt;20 years old; critical systems at end-of-life.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42938" y="1761269"/>
            <a:ext cx="2176444" cy="375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Fragile nightly sync between Engineering BOM and ERP.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2938" y="2181299"/>
            <a:ext cx="2176444" cy="375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Heavy reliance on Excel for reporting and workarounds.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262294" y="1000125"/>
            <a:ext cx="2605097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 IMPACT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262294" y="1341239"/>
            <a:ext cx="2605097" cy="1000125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14" name="Text 10"/>
          <p:cNvSpPr/>
          <p:nvPr/>
        </p:nvSpPr>
        <p:spPr>
          <a:xfrm>
            <a:off x="3369450" y="1484114"/>
            <a:ext cx="2390784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80%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369450" y="1850231"/>
            <a:ext cx="2390784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 custom orders experienced margin erosion last year.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690919" y="2519958"/>
            <a:ext cx="2176472" cy="375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Weak visibility into project-level contribution margins.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690919" y="2939988"/>
            <a:ext cx="2176472" cy="375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Unreliable labor tracking affecting true cost calculations.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310303" y="1000125"/>
            <a:ext cx="2619356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RISKS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738928" y="1341239"/>
            <a:ext cx="2190731" cy="375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BOM failures causing manufacturing delays and rework.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738928" y="1761269"/>
            <a:ext cx="2190731" cy="375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Siloed CRM and HRIS data preventing unified insights.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738928" y="2181299"/>
            <a:ext cx="2190731" cy="375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Operational delays impacting delivery and customer trust.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0" y="4843463"/>
            <a:ext cx="9144000" cy="3000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3" name="Shape 19"/>
          <p:cNvSpPr/>
          <p:nvPr/>
        </p:nvSpPr>
        <p:spPr>
          <a:xfrm>
            <a:off x="0" y="4843463"/>
            <a:ext cx="9144000" cy="1428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24" name="Text 20"/>
          <p:cNvSpPr/>
          <p:nvPr/>
        </p:nvSpPr>
        <p:spPr>
          <a:xfrm>
            <a:off x="0" y="4843463"/>
            <a:ext cx="9144000" cy="30003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C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AMG ERP Transformation Strategy | Current-State Problem</a:t>
            </a:r>
            <a:endParaRPr lang="en-US" sz="75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72424032-B84D-0D6F-CB57-7C493FB89E4F}"/>
              </a:ext>
            </a:extLst>
          </p:cNvPr>
          <p:cNvSpPr/>
          <p:nvPr/>
        </p:nvSpPr>
        <p:spPr>
          <a:xfrm>
            <a:off x="8614305" y="4882150"/>
            <a:ext cx="36751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6522"/>
                </a:solidFill>
                <a:latin typeface="Times New Roman" pitchFamily="34" charset="0"/>
                <a:cs typeface="Times New Roman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286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14375"/>
            <a:ext cx="9144000" cy="1428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7619981" cy="767953"/>
          </a:xfrm>
          <a:prstGeom prst="rect">
            <a:avLst/>
          </a:prstGeom>
          <a:noFill/>
          <a:ln/>
        </p:spPr>
        <p:txBody>
          <a:bodyPr wrap="square" lIns="340233" tIns="21259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PROGRAM OBJECTIVES &amp; SUCCESS METRICS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619981" y="0"/>
            <a:ext cx="1523991" cy="714375"/>
          </a:xfrm>
          <a:prstGeom prst="rect">
            <a:avLst/>
          </a:prstGeom>
          <a:solidFill>
            <a:srgbClr val="F26522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4807" y="276820"/>
            <a:ext cx="214313" cy="2143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85750" y="1000125"/>
            <a:ext cx="1590294" cy="227626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Program Objectives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35806" y="1591270"/>
            <a:ext cx="35361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 Continuity:</a:t>
            </a: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Ensure zero operational downtime during the ERP transition.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35806" y="2134195"/>
            <a:ext cx="35361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Modernize Core:</a:t>
            </a: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Replace legacy systems with a scalable cloud-based ERP.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35806" y="2677120"/>
            <a:ext cx="35361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Governance:</a:t>
            </a: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Establish "Single Source of Truth" for items, BOMs, and costs.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35806" y="3220045"/>
            <a:ext cx="35361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Margin Transparency:</a:t>
            </a: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Real-time visibility into custom order and project profitability.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35806" y="3762970"/>
            <a:ext cx="35361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Efficiency:</a:t>
            </a: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Eliminate manual Excel workarounds through automated reporting.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57750" y="1000125"/>
            <a:ext cx="1501332" cy="227626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Measuring Success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000625" y="1584127"/>
            <a:ext cx="3714750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000625" y="1732359"/>
            <a:ext cx="37147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5000625" y="2078831"/>
            <a:ext cx="3714750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000625" y="2227064"/>
            <a:ext cx="37147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00625" y="2573536"/>
            <a:ext cx="3714750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000625" y="2721769"/>
            <a:ext cx="37147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5000625" y="3068241"/>
            <a:ext cx="3714750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000625" y="3216473"/>
            <a:ext cx="37147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0" y="4843463"/>
            <a:ext cx="9144000" cy="3000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2" name="Shape 28"/>
          <p:cNvSpPr/>
          <p:nvPr/>
        </p:nvSpPr>
        <p:spPr>
          <a:xfrm>
            <a:off x="0" y="4843463"/>
            <a:ext cx="9144000" cy="1428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33" name="Text 29"/>
          <p:cNvSpPr/>
          <p:nvPr/>
        </p:nvSpPr>
        <p:spPr>
          <a:xfrm>
            <a:off x="0" y="4843463"/>
            <a:ext cx="9144000" cy="30003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C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AMG ERP Transformation Strategy | Program Objectives</a:t>
            </a:r>
            <a:endParaRPr lang="en-US" sz="750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53AAB2DC-2FD8-7B53-183B-F56442407566}"/>
              </a:ext>
            </a:extLst>
          </p:cNvPr>
          <p:cNvSpPr/>
          <p:nvPr/>
        </p:nvSpPr>
        <p:spPr>
          <a:xfrm>
            <a:off x="4903469" y="3983623"/>
            <a:ext cx="4000500" cy="56435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7D46CF07-C6CC-9DF3-1D99-B87DCBA36982}"/>
              </a:ext>
            </a:extLst>
          </p:cNvPr>
          <p:cNvSpPr/>
          <p:nvPr/>
        </p:nvSpPr>
        <p:spPr>
          <a:xfrm>
            <a:off x="4872040" y="3978892"/>
            <a:ext cx="45719" cy="56435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3154E049-9BF8-C6F9-0F3A-82DB794B7A42}"/>
              </a:ext>
            </a:extLst>
          </p:cNvPr>
          <p:cNvSpPr/>
          <p:nvPr/>
        </p:nvSpPr>
        <p:spPr>
          <a:xfrm>
            <a:off x="5046344" y="4090779"/>
            <a:ext cx="371475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Visibility</a:t>
            </a:r>
            <a:endParaRPr lang="en-US" sz="120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8F847B51-578A-D256-A1A0-4EF4624D8470}"/>
              </a:ext>
            </a:extLst>
          </p:cNvPr>
          <p:cNvSpPr/>
          <p:nvPr/>
        </p:nvSpPr>
        <p:spPr>
          <a:xfrm>
            <a:off x="5046344" y="4290804"/>
            <a:ext cx="371475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Instant access to order-level contribution margin reports.</a:t>
            </a:r>
            <a:endParaRPr lang="en-US" sz="1200" dirty="0"/>
          </a:p>
        </p:txBody>
      </p:sp>
      <p:sp>
        <p:nvSpPr>
          <p:cNvPr id="38" name="Shape 10">
            <a:extLst>
              <a:ext uri="{FF2B5EF4-FFF2-40B4-BE49-F238E27FC236}">
                <a16:creationId xmlns:a16="http://schemas.microsoft.com/office/drawing/2014/main" id="{153CC506-D99A-ACA1-D041-35DF0159BC3E}"/>
              </a:ext>
            </a:extLst>
          </p:cNvPr>
          <p:cNvSpPr/>
          <p:nvPr/>
        </p:nvSpPr>
        <p:spPr>
          <a:xfrm>
            <a:off x="4857750" y="3130667"/>
            <a:ext cx="4000500" cy="56435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3052C970-8A00-EA68-571A-4B10222780F1}"/>
              </a:ext>
            </a:extLst>
          </p:cNvPr>
          <p:cNvSpPr/>
          <p:nvPr/>
        </p:nvSpPr>
        <p:spPr>
          <a:xfrm>
            <a:off x="4857750" y="3130667"/>
            <a:ext cx="45719" cy="56435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EB5B62DE-92BC-A5E5-F193-E9444BED555B}"/>
              </a:ext>
            </a:extLst>
          </p:cNvPr>
          <p:cNvSpPr/>
          <p:nvPr/>
        </p:nvSpPr>
        <p:spPr>
          <a:xfrm>
            <a:off x="5000625" y="3237823"/>
            <a:ext cx="371475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 Control</a:t>
            </a:r>
            <a:endParaRPr lang="en-US" sz="1200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FC4C69D3-34CE-6729-6B3E-FBE33CFFDF4E}"/>
              </a:ext>
            </a:extLst>
          </p:cNvPr>
          <p:cNvSpPr/>
          <p:nvPr/>
        </p:nvSpPr>
        <p:spPr>
          <a:xfrm>
            <a:off x="5000625" y="3437848"/>
            <a:ext cx="371475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Reliable and timely first month-end close in new system.</a:t>
            </a:r>
            <a:endParaRPr lang="en-US" sz="1200" dirty="0"/>
          </a:p>
        </p:txBody>
      </p:sp>
      <p:sp>
        <p:nvSpPr>
          <p:cNvPr id="42" name="Shape 10">
            <a:extLst>
              <a:ext uri="{FF2B5EF4-FFF2-40B4-BE49-F238E27FC236}">
                <a16:creationId xmlns:a16="http://schemas.microsoft.com/office/drawing/2014/main" id="{0205AFC1-8D53-4F6A-A9E6-6203CA79ABE0}"/>
              </a:ext>
            </a:extLst>
          </p:cNvPr>
          <p:cNvSpPr/>
          <p:nvPr/>
        </p:nvSpPr>
        <p:spPr>
          <a:xfrm>
            <a:off x="4857750" y="2238857"/>
            <a:ext cx="4000500" cy="56435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6A24577C-9C3C-5BD7-25FF-307EA72AEB81}"/>
              </a:ext>
            </a:extLst>
          </p:cNvPr>
          <p:cNvSpPr/>
          <p:nvPr/>
        </p:nvSpPr>
        <p:spPr>
          <a:xfrm>
            <a:off x="4857750" y="2238857"/>
            <a:ext cx="45719" cy="56435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87833D4B-8623-CF80-E679-D1A349CE04A3}"/>
              </a:ext>
            </a:extLst>
          </p:cNvPr>
          <p:cNvSpPr/>
          <p:nvPr/>
        </p:nvSpPr>
        <p:spPr>
          <a:xfrm>
            <a:off x="5000625" y="2346013"/>
            <a:ext cx="371475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D30978D8-E62E-A365-F338-17AA9476AAF6}"/>
              </a:ext>
            </a:extLst>
          </p:cNvPr>
          <p:cNvSpPr/>
          <p:nvPr/>
        </p:nvSpPr>
        <p:spPr>
          <a:xfrm>
            <a:off x="5000625" y="2546038"/>
            <a:ext cx="371475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100% accurate BOM and MRP processing post-launch.</a:t>
            </a:r>
            <a:endParaRPr lang="en-US" sz="1200" dirty="0"/>
          </a:p>
        </p:txBody>
      </p:sp>
      <p:sp>
        <p:nvSpPr>
          <p:cNvPr id="46" name="Shape 10">
            <a:extLst>
              <a:ext uri="{FF2B5EF4-FFF2-40B4-BE49-F238E27FC236}">
                <a16:creationId xmlns:a16="http://schemas.microsoft.com/office/drawing/2014/main" id="{A7C82B34-60D9-6A57-E807-607D30F2429F}"/>
              </a:ext>
            </a:extLst>
          </p:cNvPr>
          <p:cNvSpPr/>
          <p:nvPr/>
        </p:nvSpPr>
        <p:spPr>
          <a:xfrm>
            <a:off x="4857750" y="1388565"/>
            <a:ext cx="4000500" cy="56435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47" name="Shape 11">
            <a:extLst>
              <a:ext uri="{FF2B5EF4-FFF2-40B4-BE49-F238E27FC236}">
                <a16:creationId xmlns:a16="http://schemas.microsoft.com/office/drawing/2014/main" id="{03B900C0-1668-8EF6-59FE-05724BC20AA2}"/>
              </a:ext>
            </a:extLst>
          </p:cNvPr>
          <p:cNvSpPr/>
          <p:nvPr/>
        </p:nvSpPr>
        <p:spPr>
          <a:xfrm>
            <a:off x="4857750" y="1388565"/>
            <a:ext cx="45719" cy="56435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0205D08F-EC21-E9C0-7D8C-1718A68DC41D}"/>
              </a:ext>
            </a:extLst>
          </p:cNvPr>
          <p:cNvSpPr/>
          <p:nvPr/>
        </p:nvSpPr>
        <p:spPr>
          <a:xfrm>
            <a:off x="5000625" y="1495721"/>
            <a:ext cx="371475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Operational Stability</a:t>
            </a:r>
            <a:endParaRPr lang="en-US" sz="1200" dirty="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E4773478-75C1-F45F-4DB1-1A18ADB2E9D8}"/>
              </a:ext>
            </a:extLst>
          </p:cNvPr>
          <p:cNvSpPr/>
          <p:nvPr/>
        </p:nvSpPr>
        <p:spPr>
          <a:xfrm>
            <a:off x="5000625" y="1695746"/>
            <a:ext cx="371475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Stable go-live with no major business interruptions.</a:t>
            </a:r>
            <a:endParaRPr lang="en-US" sz="1200" dirty="0"/>
          </a:p>
        </p:txBody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4EE40D7F-C688-D50F-2FA8-88605F35B5CC}"/>
              </a:ext>
            </a:extLst>
          </p:cNvPr>
          <p:cNvSpPr/>
          <p:nvPr/>
        </p:nvSpPr>
        <p:spPr>
          <a:xfrm>
            <a:off x="8597829" y="4873912"/>
            <a:ext cx="36751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6522"/>
                </a:solidFill>
                <a:latin typeface="Times New Roman" pitchFamily="34" charset="0"/>
                <a:cs typeface="Times New Roman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286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14375"/>
            <a:ext cx="9144000" cy="1428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7619981" cy="714375"/>
          </a:xfrm>
          <a:prstGeom prst="rect">
            <a:avLst/>
          </a:prstGeom>
          <a:noFill/>
          <a:ln/>
        </p:spPr>
        <p:txBody>
          <a:bodyPr wrap="square" lIns="340233" tIns="21259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RECOMMENDED 5-PHASE IMPLEMENTATION ROADMAP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619981" y="0"/>
            <a:ext cx="1523991" cy="714375"/>
          </a:xfrm>
          <a:prstGeom prst="rect">
            <a:avLst/>
          </a:prstGeom>
          <a:solidFill>
            <a:srgbClr val="F26522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1412" y="250031"/>
            <a:ext cx="241102" cy="21431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714375"/>
            <a:ext cx="1814513" cy="857250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9" name="Text 5"/>
          <p:cNvSpPr/>
          <p:nvPr/>
        </p:nvSpPr>
        <p:spPr>
          <a:xfrm>
            <a:off x="107156" y="1065312"/>
            <a:ext cx="16002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1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7156" y="1215330"/>
            <a:ext cx="16002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MOBILISE &amp; ASSESS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21494" y="1828800"/>
            <a:ext cx="1185863" cy="375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Confirm scope &amp; governance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21494" y="2197373"/>
            <a:ext cx="1285608" cy="160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 process owners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21494" y="2417378"/>
            <a:ext cx="1272784" cy="160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data assessment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1828800" y="714375"/>
            <a:ext cx="1814513" cy="857250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15" name="Text 11"/>
          <p:cNvSpPr/>
          <p:nvPr/>
        </p:nvSpPr>
        <p:spPr>
          <a:xfrm>
            <a:off x="1935956" y="1065312"/>
            <a:ext cx="16002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935956" y="1215330"/>
            <a:ext cx="16002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FUTURE STATE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350294" y="1828800"/>
            <a:ext cx="1185863" cy="375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Standardize core processes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350294" y="2197373"/>
            <a:ext cx="1185863" cy="375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Engineering BOM integration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350294" y="2565946"/>
            <a:ext cx="1271182" cy="160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Reporting requirements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657600" y="714375"/>
            <a:ext cx="1814513" cy="857250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21" name="Text 17"/>
          <p:cNvSpPr/>
          <p:nvPr/>
        </p:nvSpPr>
        <p:spPr>
          <a:xfrm>
            <a:off x="3764756" y="1065312"/>
            <a:ext cx="16002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3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764756" y="1215330"/>
            <a:ext cx="16002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&amp; INTEGRATE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179094" y="1828800"/>
            <a:ext cx="1146852" cy="183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ERP configuration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179094" y="2048805"/>
            <a:ext cx="1232710" cy="183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Critical integrations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179094" y="2268810"/>
            <a:ext cx="1185863" cy="375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cleansing &amp; migration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486400" y="714375"/>
            <a:ext cx="1814513" cy="857250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27" name="Text 23"/>
          <p:cNvSpPr/>
          <p:nvPr/>
        </p:nvSpPr>
        <p:spPr>
          <a:xfrm>
            <a:off x="5593556" y="1065312"/>
            <a:ext cx="16002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4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593556" y="1215330"/>
            <a:ext cx="16002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&amp; PREPARE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007894" y="1828800"/>
            <a:ext cx="1349728" cy="160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Acceptance Testing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6007894" y="2048805"/>
            <a:ext cx="1185863" cy="375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Mock cutover simulations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007894" y="2417378"/>
            <a:ext cx="1213474" cy="183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Role-based training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7315200" y="714375"/>
            <a:ext cx="1828800" cy="857250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33" name="Text 29"/>
          <p:cNvSpPr/>
          <p:nvPr/>
        </p:nvSpPr>
        <p:spPr>
          <a:xfrm>
            <a:off x="7422356" y="1065312"/>
            <a:ext cx="1614488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5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7422356" y="1215330"/>
            <a:ext cx="161448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GO-LIVE &amp; STABILISE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7836694" y="1828800"/>
            <a:ext cx="1162178" cy="183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Controlled cutover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7836694" y="2048805"/>
            <a:ext cx="1142942" cy="183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Hypercare support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7836694" y="2268810"/>
            <a:ext cx="1274388" cy="160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Critical issue resolution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0" y="4843463"/>
            <a:ext cx="9144000" cy="3000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9" name="Shape 35"/>
          <p:cNvSpPr/>
          <p:nvPr/>
        </p:nvSpPr>
        <p:spPr>
          <a:xfrm>
            <a:off x="0" y="4843463"/>
            <a:ext cx="9144000" cy="1428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40" name="Text 36"/>
          <p:cNvSpPr/>
          <p:nvPr/>
        </p:nvSpPr>
        <p:spPr>
          <a:xfrm>
            <a:off x="0" y="4843463"/>
            <a:ext cx="9144000" cy="30003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C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AMG ERP Transformation Strategy | 12-Month Phased Roadmap</a:t>
            </a:r>
            <a:endParaRPr lang="en-US" sz="750" dirty="0"/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29FA44F2-EAB5-81A3-EB39-8847856EC562}"/>
              </a:ext>
            </a:extLst>
          </p:cNvPr>
          <p:cNvSpPr/>
          <p:nvPr/>
        </p:nvSpPr>
        <p:spPr>
          <a:xfrm>
            <a:off x="8597829" y="4873912"/>
            <a:ext cx="36751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6522"/>
                </a:solidFill>
                <a:latin typeface="Times New Roman" pitchFamily="34" charset="0"/>
                <a:cs typeface="Times New Roman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286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14375"/>
            <a:ext cx="9144000" cy="1428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7619981" cy="767953"/>
          </a:xfrm>
          <a:prstGeom prst="rect">
            <a:avLst/>
          </a:prstGeom>
          <a:noFill/>
          <a:ln/>
        </p:spPr>
        <p:txBody>
          <a:bodyPr wrap="square" lIns="340233" tIns="21259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DAY-1 GO-LIVE SCOPE: CRITICAL OPERATIONS PRIORITY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619981" y="0"/>
            <a:ext cx="1523991" cy="728663"/>
          </a:xfrm>
          <a:prstGeom prst="rect">
            <a:avLst/>
          </a:prstGeom>
          <a:solidFill>
            <a:srgbClr val="F26522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1596" y="276820"/>
            <a:ext cx="160734" cy="214313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13" y="918865"/>
            <a:ext cx="96441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96478" y="892969"/>
            <a:ext cx="676467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42938" y="1187648"/>
            <a:ext cx="2127185" cy="1772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 Ledger &amp; Financial Close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42938" y="1390520"/>
            <a:ext cx="1994136" cy="1772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Accounts Payable &amp; Receivable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42938" y="1593391"/>
            <a:ext cx="2050690" cy="1772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Fixed Assets &amp; Tax Management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2294" y="918865"/>
            <a:ext cx="160734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508753" y="892969"/>
            <a:ext cx="899285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Supply Chain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3690919" y="1187648"/>
            <a:ext cx="1998945" cy="1772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Procurement &amp; Purchase Orders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3690919" y="1390520"/>
            <a:ext cx="2320507" cy="1772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Inventory &amp; Warehouse Management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3690919" y="1593391"/>
            <a:ext cx="1426673" cy="1772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Item Master &amp; Costing</a:t>
            </a:r>
            <a:endParaRPr lang="en-US" sz="12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0303" y="918865"/>
            <a:ext cx="144661" cy="1285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540689" y="892969"/>
            <a:ext cx="735779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6738928" y="1187648"/>
            <a:ext cx="2268313" cy="1772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Manufacturing/MRP &amp; Work Orders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6738928" y="1390520"/>
            <a:ext cx="1829027" cy="1772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Routing &amp; Scheduling Basics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6738928" y="1593391"/>
            <a:ext cx="2383666" cy="1772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Sales Order Processing (Parts/Service)</a:t>
            </a:r>
            <a:endParaRPr lang="en-US" sz="12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313" y="2983409"/>
            <a:ext cx="128588" cy="12858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28625" y="2957513"/>
            <a:ext cx="804707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642938" y="3252192"/>
            <a:ext cx="1859483" cy="1772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Engineering BOM Integration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42938" y="3455064"/>
            <a:ext cx="1384995" cy="1772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ECN Process Controls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42938" y="3657935"/>
            <a:ext cx="1703993" cy="1772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Controlled BOM Migration</a:t>
            </a:r>
            <a:endParaRPr lang="en-US" sz="12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2294" y="2983409"/>
            <a:ext cx="128588" cy="12858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476606" y="2957513"/>
            <a:ext cx="1027974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Reporting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3690919" y="3252192"/>
            <a:ext cx="2003754" cy="1772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 Statements &amp; Backlog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3690919" y="3455064"/>
            <a:ext cx="1910203" cy="1772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WIP &amp; Order Margin Tracking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3690919" y="3657935"/>
            <a:ext cx="2080698" cy="1772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Inventory &amp; Labour Cost Reports</a:t>
            </a:r>
            <a:endParaRPr lang="en-US" sz="12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0303" y="2983409"/>
            <a:ext cx="160734" cy="12858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556763" y="2957513"/>
            <a:ext cx="796693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6738928" y="3252192"/>
            <a:ext cx="1857432" cy="1772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Roles &amp; User Access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6738928" y="3455064"/>
            <a:ext cx="2025555" cy="1772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Approval Workflows &amp; Controls</a:t>
            </a:r>
            <a:endParaRPr lang="en-US" sz="1200" dirty="0"/>
          </a:p>
        </p:txBody>
      </p:sp>
      <p:sp>
        <p:nvSpPr>
          <p:cNvPr id="37" name="Text 27"/>
          <p:cNvSpPr/>
          <p:nvPr/>
        </p:nvSpPr>
        <p:spPr>
          <a:xfrm>
            <a:off x="6738928" y="3657935"/>
            <a:ext cx="1746697" cy="1772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Audit Trail Compliance</a:t>
            </a:r>
            <a:endParaRPr lang="en-US" sz="1200" dirty="0"/>
          </a:p>
        </p:txBody>
      </p:sp>
      <p:sp>
        <p:nvSpPr>
          <p:cNvPr id="38" name="Shape 28"/>
          <p:cNvSpPr/>
          <p:nvPr/>
        </p:nvSpPr>
        <p:spPr>
          <a:xfrm>
            <a:off x="0" y="4843463"/>
            <a:ext cx="9144000" cy="3000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9" name="Shape 29"/>
          <p:cNvSpPr/>
          <p:nvPr/>
        </p:nvSpPr>
        <p:spPr>
          <a:xfrm>
            <a:off x="0" y="4843463"/>
            <a:ext cx="9144000" cy="1428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40" name="Text 30"/>
          <p:cNvSpPr/>
          <p:nvPr/>
        </p:nvSpPr>
        <p:spPr>
          <a:xfrm>
            <a:off x="0" y="4843463"/>
            <a:ext cx="9144000" cy="30003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C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AMG ERP Transformation Strategy | Day-1 Go-Live Scope</a:t>
            </a:r>
            <a:endParaRPr lang="en-US" sz="750" dirty="0"/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EE9EC52F-3699-DDCB-AD43-5251EFBB9C36}"/>
              </a:ext>
            </a:extLst>
          </p:cNvPr>
          <p:cNvSpPr/>
          <p:nvPr/>
        </p:nvSpPr>
        <p:spPr>
          <a:xfrm>
            <a:off x="8597829" y="4873912"/>
            <a:ext cx="36751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6522"/>
                </a:solidFill>
                <a:latin typeface="Times New Roman" pitchFamily="34" charset="0"/>
                <a:cs typeface="Times New Roman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286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14375"/>
            <a:ext cx="9144000" cy="1428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7619981" cy="714375"/>
          </a:xfrm>
          <a:prstGeom prst="rect">
            <a:avLst/>
          </a:prstGeom>
          <a:noFill/>
          <a:ln/>
        </p:spPr>
        <p:txBody>
          <a:bodyPr wrap="square" lIns="340233" tIns="21259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SCOPE DEFERRAL: STRATEGIC RISK REDUCTION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619981" y="0"/>
            <a:ext cx="1523991" cy="714375"/>
          </a:xfrm>
          <a:prstGeom prst="rect">
            <a:avLst/>
          </a:prstGeom>
          <a:solidFill>
            <a:srgbClr val="F26522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4807" y="250031"/>
            <a:ext cx="214313" cy="2143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85750" y="1000125"/>
            <a:ext cx="398621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Deferral Logic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85750" y="1376958"/>
            <a:ext cx="398621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control implementation risk, AMG must deliberately defer non-essential scope. This ensures the project team remains focused on the critical path to a stable go-live.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85750" y="2234208"/>
            <a:ext cx="3986213" cy="1493044"/>
          </a:xfrm>
          <a:prstGeom prst="rect">
            <a:avLst/>
          </a:prstGeom>
          <a:solidFill>
            <a:srgbClr val="0A2240"/>
          </a:solidFill>
          <a:ln w="18288">
            <a:solidFill>
              <a:srgbClr val="F2652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4344" y="2412802"/>
            <a:ext cx="362902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GUIDING RULE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64344" y="2700338"/>
            <a:ext cx="3629025" cy="608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"If it does not protect operations, financial close, compliance, BOM accuracy, or margin visibility, it should wait until Phase 2."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57750" y="1000125"/>
            <a:ext cx="40005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Deferred Items (Post-Stabilization)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307806" y="1376958"/>
            <a:ext cx="2505494" cy="183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CRM or HRIS/Payroll replacement.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307806" y="1691283"/>
            <a:ext cx="2429704" cy="183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Advanced AI analytics and forecasting.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307806" y="2005608"/>
            <a:ext cx="2257028" cy="183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historical transaction migration.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307806" y="2319933"/>
            <a:ext cx="3460884" cy="183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Complex custom workflows mimicking legacy systems.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307806" y="2634258"/>
            <a:ext cx="3044103" cy="183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Non-critical mobile apps and self-service portals.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307806" y="2948583"/>
            <a:ext cx="3659656" cy="183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Heavy customization without legal or operational mandate.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0" y="4843463"/>
            <a:ext cx="9144000" cy="3000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0" y="4843463"/>
            <a:ext cx="9144000" cy="1428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22" name="Text 18"/>
          <p:cNvSpPr/>
          <p:nvPr/>
        </p:nvSpPr>
        <p:spPr>
          <a:xfrm>
            <a:off x="0" y="4843463"/>
            <a:ext cx="9144000" cy="30003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C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AMG ERP Transformation Strategy | Scope Deferral</a:t>
            </a:r>
            <a:endParaRPr lang="en-US" sz="750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C77BA588-B0E0-DE2A-D83D-67E87F81988B}"/>
              </a:ext>
            </a:extLst>
          </p:cNvPr>
          <p:cNvSpPr/>
          <p:nvPr/>
        </p:nvSpPr>
        <p:spPr>
          <a:xfrm>
            <a:off x="8597829" y="4873912"/>
            <a:ext cx="36751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6522"/>
                </a:solidFill>
                <a:latin typeface="Times New Roman" pitchFamily="34" charset="0"/>
                <a:cs typeface="Times New Roman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286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14375"/>
            <a:ext cx="9144000" cy="1428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7619981" cy="714375"/>
          </a:xfrm>
          <a:prstGeom prst="rect">
            <a:avLst/>
          </a:prstGeom>
          <a:noFill/>
          <a:ln/>
        </p:spPr>
        <p:txBody>
          <a:bodyPr wrap="square" lIns="340233" tIns="21259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MIGRATION &amp; REPORTING STRATEGY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619981" y="0"/>
            <a:ext cx="1523991" cy="714375"/>
          </a:xfrm>
          <a:prstGeom prst="rect">
            <a:avLst/>
          </a:prstGeom>
          <a:solidFill>
            <a:srgbClr val="F26522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201" y="250031"/>
            <a:ext cx="187523" cy="214313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1013520"/>
            <a:ext cx="171450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64356" y="1000125"/>
            <a:ext cx="1901856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Migration Approach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735806" y="1376958"/>
            <a:ext cx="35361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 Master Data:</a:t>
            </a: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Migrate customers, vendors, items, BOMs, and cost structures only after cleansing.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735806" y="1905595"/>
            <a:ext cx="35361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 Balances:</a:t>
            </a: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Focus on open orders, POs, inventory balances, and active projects.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735806" y="2434233"/>
            <a:ext cx="35361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Historical Archiving:</a:t>
            </a: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Keep older transactions in a searchable reporting warehouse, not the new ERP.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1013520"/>
            <a:ext cx="192881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57788" y="1000125"/>
            <a:ext cx="172429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Reporting &amp; Validation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5307806" y="1376958"/>
            <a:ext cx="35504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Transition Layer:</a:t>
            </a: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Unified reporting access to both legacy and new ERP data during cutover.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307806" y="1905595"/>
            <a:ext cx="35504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Parallel Validation:</a:t>
            </a: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Rigorous testing of financial reports against legacy outputs.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307806" y="2434233"/>
            <a:ext cx="35504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Mock Close:</a:t>
            </a: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Perform at least one full month-end close simulation before final go-live.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0" y="4843463"/>
            <a:ext cx="9144000" cy="3000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Shape 13"/>
          <p:cNvSpPr/>
          <p:nvPr/>
        </p:nvSpPr>
        <p:spPr>
          <a:xfrm>
            <a:off x="0" y="4843463"/>
            <a:ext cx="9144000" cy="1428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20" name="Text 14"/>
          <p:cNvSpPr/>
          <p:nvPr/>
        </p:nvSpPr>
        <p:spPr>
          <a:xfrm>
            <a:off x="0" y="4843463"/>
            <a:ext cx="9144000" cy="30003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C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AMG ERP Transformation Strategy | Data &amp; Reporting</a:t>
            </a:r>
            <a:endParaRPr lang="en-US" sz="75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AE7AFFB1-8F11-7822-0E46-D10FA611031A}"/>
              </a:ext>
            </a:extLst>
          </p:cNvPr>
          <p:cNvSpPr/>
          <p:nvPr/>
        </p:nvSpPr>
        <p:spPr>
          <a:xfrm>
            <a:off x="8597829" y="4873912"/>
            <a:ext cx="36751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6522"/>
                </a:solidFill>
                <a:latin typeface="Times New Roman" pitchFamily="34" charset="0"/>
                <a:cs typeface="Times New Roman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286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14375"/>
            <a:ext cx="9144000" cy="1428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7619981" cy="714375"/>
          </a:xfrm>
          <a:prstGeom prst="rect">
            <a:avLst/>
          </a:prstGeom>
          <a:noFill/>
          <a:ln/>
        </p:spPr>
        <p:txBody>
          <a:bodyPr wrap="square" lIns="340233" tIns="21259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PROGRAM RISKS &amp; MITIGATION STRATEGIES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619981" y="0"/>
            <a:ext cx="1523991" cy="714375"/>
          </a:xfrm>
          <a:prstGeom prst="rect">
            <a:avLst/>
          </a:prstGeom>
          <a:solidFill>
            <a:srgbClr val="F26522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4807" y="250031"/>
            <a:ext cx="214313" cy="21431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92894" y="1007269"/>
            <a:ext cx="2567453" cy="482203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9" name="Text 5"/>
          <p:cNvSpPr/>
          <p:nvPr/>
        </p:nvSpPr>
        <p:spPr>
          <a:xfrm>
            <a:off x="292894" y="1087365"/>
            <a:ext cx="2567453" cy="322011"/>
          </a:xfrm>
          <a:prstGeom prst="rect">
            <a:avLst/>
          </a:prstGeom>
          <a:noFill/>
          <a:ln/>
        </p:spPr>
        <p:txBody>
          <a:bodyPr wrap="square" lIns="170053" tIns="1275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PROGRAM RISK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860346" y="1007269"/>
            <a:ext cx="5990760" cy="482203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11" name="Text 7"/>
          <p:cNvSpPr/>
          <p:nvPr/>
        </p:nvSpPr>
        <p:spPr>
          <a:xfrm>
            <a:off x="2860346" y="1087365"/>
            <a:ext cx="5990760" cy="322011"/>
          </a:xfrm>
          <a:prstGeom prst="rect">
            <a:avLst/>
          </a:prstGeom>
          <a:noFill/>
          <a:ln/>
        </p:spPr>
        <p:txBody>
          <a:bodyPr wrap="square" lIns="170053" tIns="1275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MITIGATION STRATEGY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92894" y="1489472"/>
            <a:ext cx="2567453" cy="332207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Scope Creep &amp; Complexity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149668" y="1600200"/>
            <a:ext cx="2489464" cy="194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Executive steering committee oversight.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149668" y="1837367"/>
            <a:ext cx="2737929" cy="194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Strict change control and Day-1 scope rules.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92894" y="2085249"/>
            <a:ext cx="2567453" cy="332207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Poor Data Quality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149668" y="2195978"/>
            <a:ext cx="2811667" cy="194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Early data profiling and cleansing ownership.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149668" y="2433145"/>
            <a:ext cx="3129062" cy="194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Multiple mock migrations and business validation.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92894" y="2681027"/>
            <a:ext cx="2567453" cy="332207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BOM/MRP Disruption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149668" y="2791755"/>
            <a:ext cx="3300584" cy="194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Prioritize BOM governance and ECN process design.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149668" y="3028922"/>
            <a:ext cx="2769989" cy="194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Engineering-manufacturing cross-validation.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92894" y="3276805"/>
            <a:ext cx="2567453" cy="332207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Month-End Close Failure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149668" y="3387533"/>
            <a:ext cx="2878993" cy="194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Finance-specific testing and parallel reporting.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3149668" y="3624700"/>
            <a:ext cx="2979534" cy="194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mock month-end close before final cutover.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292894" y="3872582"/>
            <a:ext cx="2567453" cy="332207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Adoption Failure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3149668" y="3983310"/>
            <a:ext cx="3238066" cy="194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Role-based training and early process walkthroughs.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3149668" y="4220477"/>
            <a:ext cx="2644955" cy="194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 user network and hypercare support.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0" y="4843463"/>
            <a:ext cx="9144000" cy="3000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8" name="Shape 24"/>
          <p:cNvSpPr/>
          <p:nvPr/>
        </p:nvSpPr>
        <p:spPr>
          <a:xfrm>
            <a:off x="0" y="4843463"/>
            <a:ext cx="9144000" cy="1428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29" name="Text 25"/>
          <p:cNvSpPr/>
          <p:nvPr/>
        </p:nvSpPr>
        <p:spPr>
          <a:xfrm>
            <a:off x="0" y="4843463"/>
            <a:ext cx="9144000" cy="30003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C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AMG ERP Transformation Strategy | Risk Management</a:t>
            </a:r>
            <a:endParaRPr lang="en-US" sz="75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C0FDF7F9-8E69-CDBE-428A-0D80A8899B83}"/>
              </a:ext>
            </a:extLst>
          </p:cNvPr>
          <p:cNvSpPr/>
          <p:nvPr/>
        </p:nvSpPr>
        <p:spPr>
          <a:xfrm>
            <a:off x="8597829" y="4873912"/>
            <a:ext cx="36751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6522"/>
                </a:solidFill>
                <a:latin typeface="Times New Roman" pitchFamily="34" charset="0"/>
                <a:cs typeface="Times New Roman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286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14375"/>
            <a:ext cx="9144000" cy="1428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7619981" cy="714375"/>
          </a:xfrm>
          <a:prstGeom prst="rect">
            <a:avLst/>
          </a:prstGeom>
          <a:noFill/>
          <a:ln/>
        </p:spPr>
        <p:txBody>
          <a:bodyPr wrap="square" lIns="340233" tIns="21259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RECOMMENDATION &amp; TARGET OUTCOMES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619981" y="0"/>
            <a:ext cx="1523991" cy="714375"/>
          </a:xfrm>
          <a:prstGeom prst="rect">
            <a:avLst/>
          </a:prstGeom>
          <a:solidFill>
            <a:srgbClr val="F26522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4807" y="250031"/>
            <a:ext cx="214313" cy="21431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85750" y="1000125"/>
            <a:ext cx="3986213" cy="1635919"/>
          </a:xfrm>
          <a:prstGeom prst="rect">
            <a:avLst/>
          </a:prstGeom>
          <a:solidFill>
            <a:srgbClr val="F8F9FA"/>
          </a:solidFill>
          <a:ln w="18288">
            <a:solidFill>
              <a:srgbClr val="0A224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64344" y="1178719"/>
            <a:ext cx="3629025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Path Forward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64344" y="1484114"/>
            <a:ext cx="36290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AMG should proceed with a </a:t>
            </a:r>
            <a:r>
              <a:rPr lang="en-US" sz="1200" b="1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controlled 12-month cloud ERP transformation</a:t>
            </a: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focused on operational stability, BOM accuracy, and financial control.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35806" y="2821781"/>
            <a:ext cx="3536156" cy="401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Standardize where possible; customize only where operationally essential.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35807" y="3288971"/>
            <a:ext cx="3536156" cy="401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Defer non-critical enhancements until after the stabilization phase.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57750" y="1000125"/>
            <a:ext cx="4000500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Outcomes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857750" y="1376958"/>
            <a:ext cx="4000500" cy="56435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15" name="Shape 11"/>
          <p:cNvSpPr/>
          <p:nvPr/>
        </p:nvSpPr>
        <p:spPr>
          <a:xfrm>
            <a:off x="4857750" y="1376958"/>
            <a:ext cx="45719" cy="56435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16" name="Text 12"/>
          <p:cNvSpPr/>
          <p:nvPr/>
        </p:nvSpPr>
        <p:spPr>
          <a:xfrm>
            <a:off x="5000625" y="1484114"/>
            <a:ext cx="371475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Stable Day-1 Go-Live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000625" y="1684139"/>
            <a:ext cx="371475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 operational downtime and reliable business continuity.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000625" y="3098603"/>
            <a:ext cx="3714750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000625" y="3593307"/>
            <a:ext cx="3714750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000625" y="3741540"/>
            <a:ext cx="37147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5000625" y="4088012"/>
            <a:ext cx="3714750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00625" y="4236245"/>
            <a:ext cx="37147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0" y="4843463"/>
            <a:ext cx="9144000" cy="3000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1" name="Shape 27"/>
          <p:cNvSpPr/>
          <p:nvPr/>
        </p:nvSpPr>
        <p:spPr>
          <a:xfrm>
            <a:off x="0" y="4843463"/>
            <a:ext cx="9144000" cy="1428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32" name="Text 28"/>
          <p:cNvSpPr/>
          <p:nvPr/>
        </p:nvSpPr>
        <p:spPr>
          <a:xfrm>
            <a:off x="0" y="4843463"/>
            <a:ext cx="9144000" cy="30003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C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AMG ERP Transformation Strategy | Final Recommendation</a:t>
            </a:r>
            <a:endParaRPr lang="en-US" sz="750" dirty="0"/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94642859-EA19-9D5A-F932-63FD768BFBBA}"/>
              </a:ext>
            </a:extLst>
          </p:cNvPr>
          <p:cNvSpPr/>
          <p:nvPr/>
        </p:nvSpPr>
        <p:spPr>
          <a:xfrm>
            <a:off x="4857750" y="2234120"/>
            <a:ext cx="4000500" cy="56435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CF86C8A8-2099-98D0-E468-4F66F4117EC8}"/>
              </a:ext>
            </a:extLst>
          </p:cNvPr>
          <p:cNvSpPr/>
          <p:nvPr/>
        </p:nvSpPr>
        <p:spPr>
          <a:xfrm>
            <a:off x="4857750" y="2234120"/>
            <a:ext cx="45719" cy="56435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587E3405-7FE6-6D97-5C0C-BEE030936931}"/>
              </a:ext>
            </a:extLst>
          </p:cNvPr>
          <p:cNvSpPr/>
          <p:nvPr/>
        </p:nvSpPr>
        <p:spPr>
          <a:xfrm>
            <a:off x="5000625" y="2341276"/>
            <a:ext cx="371475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Margin Transparency</a:t>
            </a:r>
            <a:endParaRPr lang="en-US" sz="1200" dirty="0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CEFC19DC-37FF-2881-695C-F7DA6EC2ACA6}"/>
              </a:ext>
            </a:extLst>
          </p:cNvPr>
          <p:cNvSpPr/>
          <p:nvPr/>
        </p:nvSpPr>
        <p:spPr>
          <a:xfrm>
            <a:off x="5000625" y="2541301"/>
            <a:ext cx="371475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visibility into order-level contribution margins.</a:t>
            </a:r>
            <a:endParaRPr lang="en-US" sz="1200" dirty="0"/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FB7B64AC-8A33-0BC8-2463-F5433FB5A6E2}"/>
              </a:ext>
            </a:extLst>
          </p:cNvPr>
          <p:cNvSpPr/>
          <p:nvPr/>
        </p:nvSpPr>
        <p:spPr>
          <a:xfrm>
            <a:off x="4857750" y="3081232"/>
            <a:ext cx="4000500" cy="56435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32D651AD-9738-6DCA-41AE-5E7E4889D3BD}"/>
              </a:ext>
            </a:extLst>
          </p:cNvPr>
          <p:cNvSpPr/>
          <p:nvPr/>
        </p:nvSpPr>
        <p:spPr>
          <a:xfrm>
            <a:off x="4857750" y="3081232"/>
            <a:ext cx="45719" cy="56435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62845211-9F55-505A-0BAC-CF0D1BD90A99}"/>
              </a:ext>
            </a:extLst>
          </p:cNvPr>
          <p:cNvSpPr/>
          <p:nvPr/>
        </p:nvSpPr>
        <p:spPr>
          <a:xfrm>
            <a:off x="5000625" y="3188388"/>
            <a:ext cx="371475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 Integrity</a:t>
            </a:r>
            <a:endParaRPr lang="en-US" sz="1200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8691FF68-89F0-6734-35F4-7E5AD611572B}"/>
              </a:ext>
            </a:extLst>
          </p:cNvPr>
          <p:cNvSpPr/>
          <p:nvPr/>
        </p:nvSpPr>
        <p:spPr>
          <a:xfrm>
            <a:off x="5000624" y="3388413"/>
            <a:ext cx="385762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Reliable financial close and accurate master data governance.</a:t>
            </a:r>
            <a:endParaRPr lang="en-US" sz="1200" dirty="0"/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F4DD4D39-B6A4-CE0F-7DFE-AAC2B0A386C6}"/>
              </a:ext>
            </a:extLst>
          </p:cNvPr>
          <p:cNvSpPr/>
          <p:nvPr/>
        </p:nvSpPr>
        <p:spPr>
          <a:xfrm>
            <a:off x="4857750" y="3920353"/>
            <a:ext cx="4000500" cy="56435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42" name="Shape 11">
            <a:extLst>
              <a:ext uri="{FF2B5EF4-FFF2-40B4-BE49-F238E27FC236}">
                <a16:creationId xmlns:a16="http://schemas.microsoft.com/office/drawing/2014/main" id="{E5D564E0-1177-6933-A7E4-4225667D326D}"/>
              </a:ext>
            </a:extLst>
          </p:cNvPr>
          <p:cNvSpPr/>
          <p:nvPr/>
        </p:nvSpPr>
        <p:spPr>
          <a:xfrm>
            <a:off x="4857750" y="3920353"/>
            <a:ext cx="45719" cy="56435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42923BFE-7C35-018D-A23D-1882697942FD}"/>
              </a:ext>
            </a:extLst>
          </p:cNvPr>
          <p:cNvSpPr/>
          <p:nvPr/>
        </p:nvSpPr>
        <p:spPr>
          <a:xfrm>
            <a:off x="5000625" y="4027509"/>
            <a:ext cx="371475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Digital Foundation</a:t>
            </a:r>
            <a:endParaRPr lang="en-US" sz="1200" dirty="0"/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885B77DE-0681-6710-F590-8927DD4F0B4A}"/>
              </a:ext>
            </a:extLst>
          </p:cNvPr>
          <p:cNvSpPr/>
          <p:nvPr/>
        </p:nvSpPr>
        <p:spPr>
          <a:xfrm>
            <a:off x="5000625" y="4227534"/>
            <a:ext cx="371475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scalable platform for future automation and AI initiatives.</a:t>
            </a:r>
            <a:endParaRPr lang="en-US" sz="1200" dirty="0"/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023947A4-26FB-C62A-96C8-B61630A4B935}"/>
              </a:ext>
            </a:extLst>
          </p:cNvPr>
          <p:cNvSpPr/>
          <p:nvPr/>
        </p:nvSpPr>
        <p:spPr>
          <a:xfrm>
            <a:off x="8597829" y="4873912"/>
            <a:ext cx="36751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6522"/>
                </a:solidFill>
                <a:latin typeface="Times New Roman" pitchFamily="34" charset="0"/>
                <a:cs typeface="Times New Roman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CCE71-D77F-20BA-915D-348410B83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D2E4CD3-343F-393C-745E-D71B5135B04F}"/>
              </a:ext>
            </a:extLst>
          </p:cNvPr>
          <p:cNvSpPr/>
          <p:nvPr/>
        </p:nvSpPr>
        <p:spPr>
          <a:xfrm>
            <a:off x="0" y="0"/>
            <a:ext cx="9144000" cy="7286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DD2B6EE4-640C-83CD-C76A-BDBDCE8B0E6C}"/>
              </a:ext>
            </a:extLst>
          </p:cNvPr>
          <p:cNvSpPr/>
          <p:nvPr/>
        </p:nvSpPr>
        <p:spPr>
          <a:xfrm>
            <a:off x="0" y="714375"/>
            <a:ext cx="9144000" cy="1428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E81F787-CA36-EA7E-5E60-593AFD692F05}"/>
              </a:ext>
            </a:extLst>
          </p:cNvPr>
          <p:cNvSpPr/>
          <p:nvPr/>
        </p:nvSpPr>
        <p:spPr>
          <a:xfrm>
            <a:off x="3336967" y="57842"/>
            <a:ext cx="1869989" cy="491673"/>
          </a:xfrm>
          <a:prstGeom prst="rect">
            <a:avLst/>
          </a:prstGeom>
          <a:noFill/>
          <a:ln/>
        </p:spPr>
        <p:txBody>
          <a:bodyPr wrap="square" lIns="340233" tIns="21259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SOURCES</a:t>
            </a:r>
            <a:endParaRPr lang="en-US" sz="180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2DBAF8A8-001A-4641-026A-7631B4B3E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807" y="250031"/>
            <a:ext cx="214313" cy="214313"/>
          </a:xfrm>
          <a:prstGeom prst="rect">
            <a:avLst/>
          </a:prstGeom>
        </p:spPr>
      </p:pic>
      <p:sp>
        <p:nvSpPr>
          <p:cNvPr id="8" name="Shape 4">
            <a:extLst>
              <a:ext uri="{FF2B5EF4-FFF2-40B4-BE49-F238E27FC236}">
                <a16:creationId xmlns:a16="http://schemas.microsoft.com/office/drawing/2014/main" id="{536AEF3F-0650-DAAE-F2A2-D3FEA566AF8F}"/>
              </a:ext>
            </a:extLst>
          </p:cNvPr>
          <p:cNvSpPr/>
          <p:nvPr/>
        </p:nvSpPr>
        <p:spPr>
          <a:xfrm>
            <a:off x="90616" y="1000125"/>
            <a:ext cx="8971006" cy="1635919"/>
          </a:xfrm>
          <a:prstGeom prst="rect">
            <a:avLst/>
          </a:prstGeom>
          <a:solidFill>
            <a:srgbClr val="F8F9FA"/>
          </a:solidFill>
          <a:ln w="18288">
            <a:solidFill>
              <a:srgbClr val="0A2240"/>
            </a:solidFill>
            <a:prstDash val="solid"/>
          </a:ln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0AD6D6E-C72A-4E19-D353-1A7F891D5669}"/>
              </a:ext>
            </a:extLst>
          </p:cNvPr>
          <p:cNvSpPr/>
          <p:nvPr/>
        </p:nvSpPr>
        <p:spPr>
          <a:xfrm>
            <a:off x="464344" y="1484114"/>
            <a:ext cx="5079721" cy="49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 err="1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Abouttmc.com</a:t>
            </a:r>
            <a:r>
              <a:rPr lang="en-US" sz="1400" dirty="0">
                <a:solidFill>
                  <a:srgbClr val="0A22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(Data and Reporting Strategy)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A2240"/>
                </a:solidFill>
                <a:latin typeface="Times New Roman" pitchFamily="34" charset="0"/>
                <a:cs typeface="Times New Roman" pitchFamily="34" charset="-120"/>
              </a:rPr>
              <a:t>NetSuite UK (Recommended Phasing Approach)</a:t>
            </a:r>
            <a:endParaRPr lang="en-US" sz="1400" dirty="0"/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5DD6E4D0-F0FF-7BD5-0239-8C0A61A6642C}"/>
              </a:ext>
            </a:extLst>
          </p:cNvPr>
          <p:cNvSpPr/>
          <p:nvPr/>
        </p:nvSpPr>
        <p:spPr>
          <a:xfrm>
            <a:off x="0" y="4843463"/>
            <a:ext cx="9144000" cy="3000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FECB771F-DF87-C621-9F35-1C0179589832}"/>
              </a:ext>
            </a:extLst>
          </p:cNvPr>
          <p:cNvSpPr/>
          <p:nvPr/>
        </p:nvSpPr>
        <p:spPr>
          <a:xfrm>
            <a:off x="0" y="4843463"/>
            <a:ext cx="9144000" cy="1428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7AAD952C-C7B7-137A-67D1-64BB7B8FA166}"/>
              </a:ext>
            </a:extLst>
          </p:cNvPr>
          <p:cNvSpPr/>
          <p:nvPr/>
        </p:nvSpPr>
        <p:spPr>
          <a:xfrm>
            <a:off x="0" y="4843463"/>
            <a:ext cx="9144000" cy="115416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75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925B7BD6-01E2-34FA-78FA-CE0F200CDD61}"/>
              </a:ext>
            </a:extLst>
          </p:cNvPr>
          <p:cNvSpPr/>
          <p:nvPr/>
        </p:nvSpPr>
        <p:spPr>
          <a:xfrm>
            <a:off x="8597829" y="4873912"/>
            <a:ext cx="36751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6522"/>
                </a:solidFill>
                <a:latin typeface="Times New Roman" pitchFamily="34" charset="0"/>
                <a:cs typeface="Times New Roman" pitchFamily="34" charset="-120"/>
              </a:rPr>
              <a:t>10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19997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66BEA-9949-CC5B-B481-40A82A280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3E99A22-63C1-9561-4E7E-545DA1B84B17}"/>
              </a:ext>
            </a:extLst>
          </p:cNvPr>
          <p:cNvSpPr/>
          <p:nvPr/>
        </p:nvSpPr>
        <p:spPr>
          <a:xfrm>
            <a:off x="0" y="0"/>
            <a:ext cx="9144000" cy="7286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8B5B5D8C-9898-C035-E1FA-9ADDAB23CB05}"/>
              </a:ext>
            </a:extLst>
          </p:cNvPr>
          <p:cNvSpPr/>
          <p:nvPr/>
        </p:nvSpPr>
        <p:spPr>
          <a:xfrm>
            <a:off x="0" y="714375"/>
            <a:ext cx="9144000" cy="14288"/>
          </a:xfrm>
          <a:prstGeom prst="rect">
            <a:avLst/>
          </a:prstGeom>
          <a:solidFill>
            <a:srgbClr val="0A2240"/>
          </a:solidFill>
          <a:ln/>
        </p:spPr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821FAA9A-5DC1-CCFC-AF34-786D643B9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807" y="250031"/>
            <a:ext cx="214313" cy="214313"/>
          </a:xfrm>
          <a:prstGeom prst="rect">
            <a:avLst/>
          </a:prstGeom>
        </p:spPr>
      </p:pic>
      <p:sp>
        <p:nvSpPr>
          <p:cNvPr id="30" name="Shape 26">
            <a:extLst>
              <a:ext uri="{FF2B5EF4-FFF2-40B4-BE49-F238E27FC236}">
                <a16:creationId xmlns:a16="http://schemas.microsoft.com/office/drawing/2014/main" id="{DB6407F4-178E-15C2-027D-E577C8559D7C}"/>
              </a:ext>
            </a:extLst>
          </p:cNvPr>
          <p:cNvSpPr/>
          <p:nvPr/>
        </p:nvSpPr>
        <p:spPr>
          <a:xfrm>
            <a:off x="0" y="4843463"/>
            <a:ext cx="9144000" cy="3000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A81716E4-1E9D-0B45-3125-E5DD1C576CB1}"/>
              </a:ext>
            </a:extLst>
          </p:cNvPr>
          <p:cNvSpPr/>
          <p:nvPr/>
        </p:nvSpPr>
        <p:spPr>
          <a:xfrm>
            <a:off x="0" y="4843463"/>
            <a:ext cx="9144000" cy="1428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AB5672D5-0EEC-2744-3BA2-555DA9CE6C54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240"/>
          </a:solidFill>
          <a:ln w="18288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B8A68BAA-B5F7-B551-1A9B-B1BC71008C7D}"/>
              </a:ext>
            </a:extLst>
          </p:cNvPr>
          <p:cNvSpPr/>
          <p:nvPr/>
        </p:nvSpPr>
        <p:spPr>
          <a:xfrm>
            <a:off x="3249371" y="2325528"/>
            <a:ext cx="2645257" cy="492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3216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1048</Words>
  <Application>Microsoft Macintosh PowerPoint</Application>
  <PresentationFormat>On-screen Show (16:9)</PresentationFormat>
  <Paragraphs>185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Ebenezer Acquah</cp:lastModifiedBy>
  <cp:revision>5</cp:revision>
  <dcterms:created xsi:type="dcterms:W3CDTF">2026-07-13T21:29:26Z</dcterms:created>
  <dcterms:modified xsi:type="dcterms:W3CDTF">2026-07-14T10:55:32Z</dcterms:modified>
</cp:coreProperties>
</file>